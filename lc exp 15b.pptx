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10789920" cy="4800600"/>
          </a:xfrm>
          <a:prstGeom prst="round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64592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83054"/>
                </a:solidFill>
                <a:latin typeface="Aptos Display"/>
              </a:defRPr>
            </a:pPr>
            <a:r>
              <a:rPr>
                <a:solidFill>
                  <a:srgbClr val="2D3748"/>
                </a:solidFill>
              </a:rPr>
              <a:t>Career Pathways and the Future of Low-Code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794760"/>
            <a:ext cx="9098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2D343E"/>
                </a:solidFill>
                <a:latin typeface="Aptos"/>
              </a:defRPr>
            </a:pPr>
            <a:r>
              <a:rPr sz="1800">
                <a:solidFill>
                  <a:srgbClr val="2D3748"/>
                </a:solidFill>
                <a:latin typeface="Aptos"/>
              </a:rPr>
              <a:t>Career options, practical skills, emerging trends, benefits, and challenges.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07E"/>
                </a:solidFill>
              </a:defRPr>
            </a:pPr>
            <a:r>
              <a:rPr>
                <a:solidFill>
                  <a:srgbClr val="2D3748"/>
                </a:solidFill>
              </a:rPr>
              <a:t>LOW-CODE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4"/>
                </a:solidFill>
                <a:latin typeface="Aptos Display"/>
              </a:defRPr>
            </a:pPr>
            <a:r>
              <a:rPr>
                <a:solidFill>
                  <a:srgbClr val="2D3748"/>
                </a:solidFill>
              </a:rPr>
              <a:t>What Is Low-Code?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1353312"/>
            <a:ext cx="914400" cy="5486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438912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rPr sz="1600">
                <a:solidFill>
                  <a:srgbClr val="2D3748"/>
                </a:solidFill>
                <a:latin typeface="Aptos"/>
              </a:rPr>
              <a:t>Visual tools, reusable components, and ready-made connectors.</a:t>
            </a:r>
            <a:br/>
            <a:r>
              <a:rPr sz="1600">
                <a:solidFill>
                  <a:srgbClr val="2D3748"/>
                </a:solidFill>
                <a:latin typeface="Aptos"/>
              </a:rPr>
              <a:t>Reduces repetitive coding, while engineering judgment remains important.</a:t>
            </a:r>
            <a:br/>
            <a:r>
              <a:rPr sz="1600">
                <a:solidFill>
                  <a:srgbClr val="2D3748"/>
                </a:solidFill>
                <a:latin typeface="Aptos"/>
              </a:rPr>
              <a:t>Examples: Zoho Creator, Power Apps, Salesforce Platform, and Mendix.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  <a:latin typeface="Aptos"/>
              </a:defRPr>
            </a:pPr>
            <a:r>
              <a:rPr>
                <a:solidFill>
                  <a:srgbClr val="2D3748"/>
                </a:solidFill>
              </a:rPr>
              <a:t>CAREER PATHWAYS &amp; LOW-CODE DEVELOPMENT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4"/>
                </a:solidFill>
                <a:latin typeface="Aptos Display"/>
              </a:defRPr>
            </a:pPr>
            <a:r>
              <a:rPr>
                <a:solidFill>
                  <a:srgbClr val="2D3748"/>
                </a:solidFill>
              </a:rPr>
              <a:t>Why It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1353312"/>
            <a:ext cx="914400" cy="5486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438912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rPr sz="1600">
                <a:solidFill>
                  <a:srgbClr val="2D3748"/>
                </a:solidFill>
                <a:latin typeface="Aptos"/>
              </a:rPr>
              <a:t>Organizations need reliable business apps and workflows delivered faster.</a:t>
            </a:r>
            <a:br/>
            <a:r>
              <a:rPr sz="1600">
                <a:solidFill>
                  <a:srgbClr val="2D3748"/>
                </a:solidFill>
                <a:latin typeface="Aptos"/>
              </a:rPr>
              <a:t>Business teams and developers can work more closely together.</a:t>
            </a:r>
            <a:br/>
            <a:r>
              <a:rPr sz="1600">
                <a:solidFill>
                  <a:srgbClr val="2D3748"/>
                </a:solidFill>
                <a:latin typeface="Aptos"/>
              </a:rPr>
              <a:t>Security and governance matter as adoption grows.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  <a:latin typeface="Aptos"/>
              </a:defRPr>
            </a:pPr>
            <a:r>
              <a:rPr>
                <a:solidFill>
                  <a:srgbClr val="2D3748"/>
                </a:solidFill>
              </a:rPr>
              <a:t>CAREER PATHWAYS &amp; LOW-CODE DEVELOPMENT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4"/>
                </a:solidFill>
                <a:latin typeface="Aptos Display"/>
              </a:defRPr>
            </a:pPr>
            <a:r>
              <a:rPr>
                <a:solidFill>
                  <a:srgbClr val="2D3748"/>
                </a:solidFill>
              </a:rPr>
              <a:t>Career Pathways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1353312"/>
            <a:ext cx="914400" cy="5486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438912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rPr sz="1600">
                <a:solidFill>
                  <a:srgbClr val="2D3748"/>
                </a:solidFill>
                <a:latin typeface="Aptos"/>
              </a:rPr>
              <a:t>Low-code developer and business/process analyst.</a:t>
            </a:r>
            <a:br/>
            <a:r>
              <a:rPr sz="1600">
                <a:solidFill>
                  <a:srgbClr val="2D3748"/>
                </a:solidFill>
                <a:latin typeface="Aptos"/>
              </a:rPr>
              <a:t>Automation specialist, platform administrator, and workflow consultant.</a:t>
            </a:r>
            <a:br/>
            <a:r>
              <a:rPr sz="1600">
                <a:solidFill>
                  <a:srgbClr val="2D3748"/>
                </a:solidFill>
                <a:latin typeface="Aptos"/>
              </a:rPr>
              <a:t>Integration developer, solution architect, and pro-code extension engineer.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  <a:latin typeface="Aptos"/>
              </a:defRPr>
            </a:pPr>
            <a:r>
              <a:rPr>
                <a:solidFill>
                  <a:srgbClr val="2D3748"/>
                </a:solidFill>
              </a:rPr>
              <a:t>CAREER PATHWAYS &amp; LOW-CODE DEVELOPMENT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4"/>
                </a:solidFill>
                <a:latin typeface="Aptos Display"/>
              </a:defRPr>
            </a:pPr>
            <a:r>
              <a:rPr>
                <a:solidFill>
                  <a:srgbClr val="2D3748"/>
                </a:solidFill>
              </a:rPr>
              <a:t>Core 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1353312"/>
            <a:ext cx="914400" cy="5486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438912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rPr sz="1600">
                <a:solidFill>
                  <a:srgbClr val="2D3748"/>
                </a:solidFill>
                <a:latin typeface="Aptos"/>
              </a:rPr>
              <a:t>Platform setup, data modeling, UI design, and workflow logic.</a:t>
            </a:r>
            <a:br/>
            <a:r>
              <a:rPr sz="1600">
                <a:solidFill>
                  <a:srgbClr val="2D3748"/>
                </a:solidFill>
                <a:latin typeface="Aptos"/>
              </a:rPr>
              <a:t>SQL, APIs, JSON, OAuth 2.0, testing, and error handling.</a:t>
            </a:r>
            <a:br/>
            <a:r>
              <a:rPr sz="1600">
                <a:solidFill>
                  <a:srgbClr val="2D3748"/>
                </a:solidFill>
                <a:latin typeface="Aptos"/>
              </a:rPr>
              <a:t>Security, communication, documentation, and business process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  <a:latin typeface="Aptos"/>
              </a:defRPr>
            </a:pPr>
            <a:r>
              <a:rPr>
                <a:solidFill>
                  <a:srgbClr val="2D3748"/>
                </a:solidFill>
              </a:rPr>
              <a:t>CAREER PATHWAYS &amp; LOW-CODE DEVELOPMENT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4"/>
                </a:solidFill>
                <a:latin typeface="Aptos Display"/>
              </a:defRPr>
            </a:pPr>
            <a:r>
              <a:rPr>
                <a:solidFill>
                  <a:srgbClr val="2D3748"/>
                </a:solidFill>
              </a:rPr>
              <a:t>Learning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1353312"/>
            <a:ext cx="914400" cy="5486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438912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spcAft>
                <a:spcPts val="2400"/>
              </a:spcAft>
              <a:defRPr sz="2100">
                <a:solidFill>
                  <a:srgbClr val="2D343E"/>
                </a:solidFill>
                <a:latin typeface="Aptos"/>
              </a:defRPr>
            </a:pPr>
            <a:r>
              <a:rPr sz="1600">
                <a:solidFill>
                  <a:srgbClr val="2D3748"/>
                </a:solidFill>
                <a:latin typeface="Aptos"/>
              </a:rPr>
              <a:t>Build a small form-and-workflow app.</a:t>
            </a:r>
            <a:br/>
            <a:r>
              <a:rPr sz="1600">
                <a:solidFill>
                  <a:srgbClr val="2D3748"/>
                </a:solidFill>
                <a:latin typeface="Aptos"/>
              </a:rPr>
              <a:t>Add user roles, validation, reports, and an approval process.</a:t>
            </a:r>
            <a:br/>
            <a:r>
              <a:rPr sz="1600">
                <a:solidFill>
                  <a:srgbClr val="2D3748"/>
                </a:solidFill>
                <a:latin typeface="Aptos"/>
              </a:rPr>
              <a:t>Connect an API, test the app, and document the design.</a:t>
            </a:r>
            <a:br/>
            <a:r>
              <a:rPr sz="1600">
                <a:solidFill>
                  <a:srgbClr val="2D3748"/>
                </a:solidFill>
                <a:latin typeface="Aptos"/>
              </a:rPr>
              <a:t>Create a portfolio project, such as a patient appointment booking 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  <a:latin typeface="Aptos"/>
              </a:defRPr>
            </a:pPr>
            <a:r>
              <a:rPr>
                <a:solidFill>
                  <a:srgbClr val="2D3748"/>
                </a:solidFill>
              </a:rPr>
              <a:t>CAREER PATHWAYS &amp; LOW-CODE DEVELOPMENT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4"/>
                </a:solidFill>
                <a:latin typeface="Aptos Display"/>
              </a:defRPr>
            </a:pPr>
            <a:r>
              <a:rPr>
                <a:solidFill>
                  <a:srgbClr val="2D3748"/>
                </a:solidFill>
              </a:rPr>
              <a:t>Future Trends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1353312"/>
            <a:ext cx="914400" cy="5486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438912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rPr sz="1600">
                <a:solidFill>
                  <a:srgbClr val="2D3748"/>
                </a:solidFill>
                <a:latin typeface="Aptos"/>
              </a:rPr>
              <a:t>AI-assisted app creation, documentation, and test generation.</a:t>
            </a:r>
            <a:br/>
            <a:r>
              <a:rPr sz="1600">
                <a:solidFill>
                  <a:srgbClr val="2D3748"/>
                </a:solidFill>
                <a:latin typeface="Aptos"/>
              </a:rPr>
              <a:t>Low-code combined with conventional programming.</a:t>
            </a:r>
            <a:br/>
            <a:r>
              <a:rPr sz="1600">
                <a:solidFill>
                  <a:srgbClr val="2D3748"/>
                </a:solidFill>
                <a:latin typeface="Aptos"/>
              </a:rPr>
              <a:t>Reusable components, integration automation, and stronger governance.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  <a:latin typeface="Aptos"/>
              </a:defRPr>
            </a:pPr>
            <a:r>
              <a:rPr>
                <a:solidFill>
                  <a:srgbClr val="2D3748"/>
                </a:solidFill>
              </a:rPr>
              <a:t>CAREER PATHWAYS &amp; LOW-CODE DEVELOPMENT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4"/>
                </a:solidFill>
                <a:latin typeface="Aptos Display"/>
              </a:defRPr>
            </a:pPr>
            <a:r>
              <a:rPr>
                <a:solidFill>
                  <a:srgbClr val="2D3748"/>
                </a:solidFill>
              </a:rPr>
              <a:t>Opportunities and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1353312"/>
            <a:ext cx="914400" cy="5486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438912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rPr sz="1600">
                <a:solidFill>
                  <a:srgbClr val="2D3748"/>
                </a:solidFill>
                <a:latin typeface="Aptos"/>
              </a:rPr>
              <a:t>Opportunities: faster delivery, automation, and better collaboration.</a:t>
            </a:r>
            <a:br/>
            <a:r>
              <a:rPr sz="1600">
                <a:solidFill>
                  <a:srgbClr val="2D3748"/>
                </a:solidFill>
                <a:latin typeface="Aptos"/>
              </a:rPr>
              <a:t>Risks: platform limits, vendor dependence, duplicated apps, and security gaps.</a:t>
            </a:r>
            <a:br/>
            <a:r>
              <a:rPr sz="1600">
                <a:solidFill>
                  <a:srgbClr val="2D3748"/>
                </a:solidFill>
                <a:latin typeface="Aptos"/>
              </a:rPr>
              <a:t>Reduce risks through standards, access reviews, testing, and clear ownership.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  <a:latin typeface="Aptos"/>
              </a:defRPr>
            </a:pPr>
            <a:r>
              <a:rPr>
                <a:solidFill>
                  <a:srgbClr val="2D3748"/>
                </a:solidFill>
              </a:rPr>
              <a:t>CAREER PATHWAYS &amp; LOW-CODE DEVELOPMENT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4"/>
                </a:solidFill>
                <a:latin typeface="Aptos Display"/>
              </a:defRPr>
            </a:pPr>
            <a:r>
              <a:rPr>
                <a:solidFill>
                  <a:srgbClr val="2D3748"/>
                </a:solidFill>
              </a:rPr>
              <a:t>Choosing the Right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1353312"/>
            <a:ext cx="914400" cy="5486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438912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rPr sz="1600">
                <a:solidFill>
                  <a:srgbClr val="2D3748"/>
                </a:solidFill>
                <a:latin typeface="Aptos"/>
              </a:rPr>
              <a:t>Use low-code for standard forms, dashboards, and routine workflows.</a:t>
            </a:r>
            <a:br/>
            <a:r>
              <a:rPr sz="1600">
                <a:solidFill>
                  <a:srgbClr val="2D3748"/>
                </a:solidFill>
                <a:latin typeface="Aptos"/>
              </a:rPr>
              <a:t>Use pro-code for complex logic, high-volume processing, or specialized integrations.</a:t>
            </a:r>
            <a:br/>
            <a:r>
              <a:rPr sz="1600">
                <a:solidFill>
                  <a:srgbClr val="2D3748"/>
                </a:solidFill>
                <a:latin typeface="Aptos"/>
              </a:rPr>
              <a:t>Choose a hybrid approach when speed and deeper technical control are both needed.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  <a:latin typeface="Aptos"/>
              </a:defRPr>
            </a:pPr>
            <a:r>
              <a:rPr>
                <a:solidFill>
                  <a:srgbClr val="2D3748"/>
                </a:solidFill>
              </a:rPr>
              <a:t>CAREER PATHWAYS &amp; LOW-CODE DEVELOPMENT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54"/>
                </a:solidFill>
                <a:latin typeface="Aptos Display"/>
              </a:defRPr>
            </a:pPr>
            <a:r>
              <a:rPr>
                <a:solidFill>
                  <a:srgbClr val="2D3748"/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1353312"/>
            <a:ext cx="914400" cy="54864"/>
          </a:xfrm>
          <a:prstGeom prst="rect">
            <a:avLst/>
          </a:prstGeom>
          <a:solidFill>
            <a:srgbClr val="008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438912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spcAft>
                <a:spcPts val="2400"/>
              </a:spcAft>
              <a:defRPr sz="2300">
                <a:solidFill>
                  <a:srgbClr val="2D343E"/>
                </a:solidFill>
                <a:latin typeface="Aptos"/>
              </a:defRPr>
            </a:pPr>
            <a:r>
              <a:rPr sz="1600">
                <a:solidFill>
                  <a:srgbClr val="2D3748"/>
                </a:solidFill>
                <a:latin typeface="Aptos"/>
              </a:rPr>
              <a:t>Low-code offers varied career paths but does not replace core engineering skills.</a:t>
            </a:r>
            <a:br/>
            <a:r>
              <a:rPr sz="1600">
                <a:solidFill>
                  <a:srgbClr val="2D3748"/>
                </a:solidFill>
                <a:latin typeface="Aptos"/>
              </a:rPr>
              <a:t>Combine platform knowledge with APIs, databases, security, testing, and communication.</a:t>
            </a:r>
            <a:br/>
            <a:r>
              <a:rPr sz="1600">
                <a:solidFill>
                  <a:srgbClr val="2D3748"/>
                </a:solidFill>
                <a:latin typeface="Aptos"/>
              </a:rPr>
              <a:t>Build practical projects and keep learning as platforms and business needs evolve.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0080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07E"/>
                </a:solidFill>
                <a:latin typeface="Aptos"/>
              </a:defRPr>
            </a:pPr>
            <a:r>
              <a:rPr>
                <a:solidFill>
                  <a:srgbClr val="2D3748"/>
                </a:solidFill>
              </a:rPr>
              <a:t>CAREER PATHWAYS &amp; LOW-CODE DEVELOPMENT                                  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